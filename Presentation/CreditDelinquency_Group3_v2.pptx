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D4A017"/>
                </a:solidFill>
              </a:rPr>
              <a:t>BANKING, FINANCIAL SERVICES &amp; INSURANCE  |  BFSI  |  NEWTON SCHOOL OF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5943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Strategic Credit
</a:t>
            </a:r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Delinquency Analysis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47472" y="2670048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D4A017"/>
                </a:solidFill>
              </a:rPr>
              <a:t>Predictive Modeling for Financial Risk Mitigation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7472" y="3200400"/>
            <a:ext cx="5029200" cy="36576"/>
          </a:xfrm>
          <a:prstGeom prst="rect">
            <a:avLst/>
          </a:prstGeom>
          <a:solidFill>
            <a:srgbClr val="2E4270"/>
          </a:solidFill>
          <a:ln w="12700">
            <a:solidFill>
              <a:srgbClr val="2E42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334670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017"/>
                </a:solidFill>
              </a:rPr>
              <a:t>INSTITUTE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755648" y="33467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</a:rPr>
              <a:t>Newton School of Technology, Rishihood University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36576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017"/>
                </a:solidFill>
              </a:rPr>
              <a:t>MENTOR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55648" y="3657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</a:rPr>
              <a:t>Mr. Archit Raj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396849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017"/>
                </a:solidFill>
              </a:rPr>
              <a:t>SUBMISSION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755648" y="396849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</a:rPr>
              <a:t>February 2026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427939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017"/>
                </a:solidFill>
              </a:rPr>
              <a:t>TEAM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755648" y="4279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</a:rPr>
              <a:t>Section A — Group 3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537960" y="777240"/>
            <a:ext cx="2423160" cy="4114800"/>
          </a:xfrm>
          <a:prstGeom prst="rect">
            <a:avLst/>
          </a:prstGeom>
          <a:solidFill>
            <a:srgbClr val="243558"/>
          </a:solidFill>
          <a:ln w="15240">
            <a:solidFill>
              <a:srgbClr val="1A6B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8686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D4A017"/>
                </a:solidFill>
              </a:rPr>
              <a:t>TEAM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37960" y="106984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D4A017"/>
                </a:solidFill>
              </a:rPr>
              <a:t>MEMBERS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675120" y="1353312"/>
            <a:ext cx="21488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5087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Avishkar Meher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192938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Aryu Rao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23500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Sameer Khan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27706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Satyam Swarnakar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319125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Krishna Dave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7960" y="36118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Ritik Atri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32520" y="48463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732520" y="109728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02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28803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658368"/>
            <a:ext cx="2880360" cy="4389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5836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SECTOR CONTEXT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6616" y="1207008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Why This Problem Matters: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6616" y="1481328"/>
            <a:ext cx="26243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In the unsecured lending market, accurately assessing borrower risk is the primary driver of profitability. Digital lending requires faster, more accurate risk tools.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6616" y="2231136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Who Are the Decision-Makers?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6616" y="2505456"/>
            <a:ext cx="26243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Chief Risk Officers, Underwriting Teams, and Portfolio Managers who set credit policy and approve loan applications.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658368"/>
            <a:ext cx="28803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658368"/>
            <a:ext cx="288036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65836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PROBLEM STATEMENT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28416" y="1207008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</a:rPr>
              <a:t>Core Business Question: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28416" y="1481328"/>
            <a:ext cx="26243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Credit delinquency (90+ days past due) is the primary driver of capital erosion. Static scoring models miss behavioral nuances like sudden utilization spikes.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28416" y="2231136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</a:rPr>
              <a:t>Specifically: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28416" y="2505456"/>
            <a:ext cx="26243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How can Revolving Utilization and behavioral signals predict Serious Delinquency within a 2-year window?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72200" y="658368"/>
            <a:ext cx="28803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658368"/>
            <a:ext cx="2880360" cy="438912"/>
          </a:xfrm>
          <a:prstGeom prst="rect">
            <a:avLst/>
          </a:prstGeom>
          <a:solidFill>
            <a:srgbClr val="1A6B7C"/>
          </a:solidFill>
          <a:ln w="12700">
            <a:solidFill>
              <a:srgbClr val="1A6B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65836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OBJECTIVES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0216" y="1207008"/>
            <a:ext cx="26243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Clean and process 15,000 credit profiles from the "Give Me Some Credit" dataset.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00216" y="1956816"/>
            <a:ext cx="26243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Quantify the impact of Revolving Utilization on default probability.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00216" y="2706624"/>
            <a:ext cx="26243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Design an interactive Google Sheets dashboard for credit officers.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00216" y="3456432"/>
            <a:ext cx="26243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Develop a 3-tier borrower risk segmentation framework.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Engineering — Source to Sink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732520" y="109728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03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28803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658368"/>
            <a:ext cx="2880360" cy="4389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5836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SOURCE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6616" y="1188720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Dataset: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" y="1444752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"Give Me Some Credit"  (cs-training.csv → df.csv)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6616" y="2039112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Size: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" y="2295144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15,000 observations × 11 variables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6616" y="2889504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Target Variable: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" y="3145536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SeriousDlqin2yrs (Binary: 0 or 1)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6616" y="3739896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Type: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" y="3995928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Structured tabular data — individual credit records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658368"/>
            <a:ext cx="28803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658368"/>
            <a:ext cx="2880360" cy="43891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65836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CLEANING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28416" y="1188720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Median Imputation: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28416" y="1444752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MonthlyIncome had 20% missing — median applied to avoid high-income skew.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28416" y="2039112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Outlier Capping: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28416" y="2295144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RevolvingUtilization capped at 2.0 (200%) to remove erroneous data entries.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28416" y="2889504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Integrity Check: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28416" y="3145536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Removed all records where age = 0 (invalid entries).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28416" y="3739896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Output: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28416" y="3995928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Cleaned df.csv with 15,000 valid, analysis-ready records.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72200" y="658368"/>
            <a:ext cx="28803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658368"/>
            <a:ext cx="2880360" cy="438912"/>
          </a:xfrm>
          <a:prstGeom prst="rect">
            <a:avLst/>
          </a:prstGeom>
          <a:solidFill>
            <a:srgbClr val="1A6B7C"/>
          </a:solidFill>
          <a:ln w="12700">
            <a:solidFill>
              <a:srgbClr val="1A6B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65836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KEY COLUMNS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0216" y="1188720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7C"/>
                </a:solidFill>
              </a:rPr>
              <a:t>RevolvingUtilization: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0216" y="1444752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Balance ÷ credit limit — strongest single predictor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00216" y="2039112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7C"/>
                </a:solidFill>
              </a:rPr>
              <a:t>DebtRatio: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0216" y="2295144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Monthly debt payments ÷ gross monthly income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00216" y="2889504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7C"/>
                </a:solidFill>
              </a:rPr>
              <a:t>MonthlyIncome: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0216" y="3145536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Primary economic indicator (20% imputed)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0216" y="3739896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7C"/>
                </a:solidFill>
              </a:rPr>
              <a:t># Times 30-59, 60-89, 90+ Days Late: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0216" y="3995928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Behavioral delinquency signals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KPI &amp; Metrics Framework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732520" y="109728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04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28803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685800"/>
            <a:ext cx="28803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2296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0392B"/>
                </a:solidFill>
              </a:rPr>
              <a:t>6.97%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393192" y="1938528"/>
            <a:ext cx="2551176" cy="36576"/>
          </a:xfrm>
          <a:prstGeom prst="rect">
            <a:avLst/>
          </a:prstGeom>
          <a:solidFill>
            <a:srgbClr val="D8DDE8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2029968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Delinquency Penetration Rate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" y="2505456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(Count of Defaulted ÷ Total Borrowers) × 100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6616" y="3063240"/>
            <a:ext cx="2624328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" y="3182112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Why This KPI?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6616" y="3474720"/>
            <a:ext cx="26243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Primary portfolio health indicator — 1,099 of 15,772 borrowers defaulted. Directly tracks capital loss exposure.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685800"/>
            <a:ext cx="28803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685800"/>
            <a:ext cx="288036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82296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4A017"/>
                </a:solidFill>
              </a:rPr>
              <a:t>~34%</a:t>
            </a:r>
            <a:endParaRPr lang="en-US" sz="5200" dirty="0"/>
          </a:p>
        </p:txBody>
      </p:sp>
      <p:sp>
        <p:nvSpPr>
          <p:cNvPr id="17" name="Shape 15"/>
          <p:cNvSpPr/>
          <p:nvPr/>
        </p:nvSpPr>
        <p:spPr>
          <a:xfrm>
            <a:off x="3364992" y="1938528"/>
            <a:ext cx="2551176" cy="36576"/>
          </a:xfrm>
          <a:prstGeom prst="rect">
            <a:avLst/>
          </a:prstGeom>
          <a:solidFill>
            <a:srgbClr val="D8DDE8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2029968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Avg Credit Utilization (CUE)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28416" y="2505456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Average of RevolvingUtilizationOfUnsecuredLines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28416" y="3063240"/>
            <a:ext cx="2624328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28416" y="3182112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017"/>
                </a:solidFill>
              </a:rPr>
              <a:t>Why This KPI?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28416" y="3474720"/>
            <a:ext cx="26243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The single strongest predictor. Utilization above 70% is nearly 10× more predictive than income alone.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72200" y="685800"/>
            <a:ext cx="28803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685800"/>
            <a:ext cx="2880360" cy="73152"/>
          </a:xfrm>
          <a:prstGeom prst="rect">
            <a:avLst/>
          </a:prstGeom>
          <a:solidFill>
            <a:srgbClr val="1A6B7C"/>
          </a:solidFill>
          <a:ln w="12700">
            <a:solidFill>
              <a:srgbClr val="1A6B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82296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6B7C"/>
                </a:solidFill>
              </a:rPr>
              <a:t>$6,750</a:t>
            </a:r>
            <a:endParaRPr lang="en-US" sz="5200" dirty="0"/>
          </a:p>
        </p:txBody>
      </p:sp>
      <p:sp>
        <p:nvSpPr>
          <p:cNvPr id="26" name="Shape 24"/>
          <p:cNvSpPr/>
          <p:nvPr/>
        </p:nvSpPr>
        <p:spPr>
          <a:xfrm>
            <a:off x="6336792" y="1938528"/>
            <a:ext cx="2551176" cy="36576"/>
          </a:xfrm>
          <a:prstGeom prst="rect">
            <a:avLst/>
          </a:prstGeom>
          <a:solidFill>
            <a:srgbClr val="D8DDE8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029968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Avg Monthly Income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0216" y="2505456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Mean of MonthlyIncome across 15,000 records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300216" y="3063240"/>
            <a:ext cx="2624328" cy="36576"/>
          </a:xfrm>
          <a:prstGeom prst="rect">
            <a:avLst/>
          </a:prstGeom>
          <a:solidFill>
            <a:srgbClr val="1A6B7C"/>
          </a:solidFill>
          <a:ln w="12700">
            <a:solidFill>
              <a:srgbClr val="1A6B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0216" y="3182112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7C"/>
                </a:solidFill>
              </a:rPr>
              <a:t>Why This KPI?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0216" y="3474720"/>
            <a:ext cx="26243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Baseline economic benchmark used with DebtRatio (33%) to identify "Working Poor" high-risk segments.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Insights — Exploratory Data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732520" y="109728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694944"/>
            <a:ext cx="45720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694944"/>
            <a:ext cx="548640" cy="13533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94944"/>
            <a:ext cx="54864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786384"/>
            <a:ext cx="3822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Utilization is the #1 Risk Signal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86968" y="1115568"/>
            <a:ext cx="3822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Borrowers with 70-100% utilization default at 19.2% — nearly 10× the rate of those under 10% (2%). This single variable outperforms income as a predictor.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2157984"/>
            <a:ext cx="45720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157984"/>
            <a:ext cx="548640" cy="13533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157984"/>
            <a:ext cx="54864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86968" y="2249424"/>
            <a:ext cx="3822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</a:rPr>
              <a:t>Age-Risk "Financial Maturity" Curve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968" y="2578608"/>
            <a:ext cx="3822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Under-30 borrowers default at 11.5% — nearly 5× higher than 65+ borrowers (2.4%). Risk declines consistently with age group.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3621024"/>
            <a:ext cx="45720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621024"/>
            <a:ext cx="548640" cy="135331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621024"/>
            <a:ext cx="54864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86968" y="3712464"/>
            <a:ext cx="3822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017"/>
                </a:solidFill>
              </a:rPr>
              <a:t>Behavioral Lag: 30-59 Day Delays Escalate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6968" y="4041648"/>
            <a:ext cx="3822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Borrowers with just 1 prior 30-59 day delay show a 14.8% default rate — 3× those with none (4.4%). Each additional delay compounds this dramatically.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83480" y="685800"/>
            <a:ext cx="39319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74920" y="7498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Default Rate by Age Group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74920" y="10241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99"/>
                </a:solidFill>
              </a:rPr>
              <a:t>Source: Google Sheets EDA Dashboard</a:t>
            </a:r>
            <a:endParaRPr lang="en-US" sz="8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207008"/>
            <a:ext cx="3840480" cy="160020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029200" y="2852928"/>
            <a:ext cx="3794760" cy="36576"/>
          </a:xfrm>
          <a:prstGeom prst="rect">
            <a:avLst/>
          </a:prstGeom>
          <a:solidFill>
            <a:srgbClr val="D8DDE8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74920" y="2926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Credit Utilization vs. Default Rate (Pie)</a:t>
            </a:r>
            <a:endParaRPr lang="en-US" sz="105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182112"/>
            <a:ext cx="3840480" cy="15727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Advanced Analysis — Risk Segmentation &amp; Tiering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732520" y="109728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06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2880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685800"/>
            <a:ext cx="2880360" cy="457200"/>
          </a:xfrm>
          <a:prstGeom prst="rect">
            <a:avLst/>
          </a:prstGeom>
          <a:solidFill>
            <a:srgbClr val="1A6B7C"/>
          </a:solidFill>
          <a:ln w="12700">
            <a:solidFill>
              <a:srgbClr val="1A6B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85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</a:rPr>
              <a:t>TIER 1 — SAFE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" y="1225296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7C"/>
                </a:solidFill>
              </a:rPr>
              <a:t>Age &gt; 45  |  Utilization &lt; 30%  |  0 Past Due Events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6616" y="181051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9"/>
                </a:solidFill>
              </a:rPr>
              <a:t>Risk Level: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81912" y="1810512"/>
            <a:ext cx="1399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Low — Standard approval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16" y="2157984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9"/>
                </a:solidFill>
              </a:rPr>
              <a:t>Avg Default Rate: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81912" y="2157984"/>
            <a:ext cx="1399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~2-4% (per EDA cross-tab)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" y="2505456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9"/>
                </a:solidFill>
              </a:rPr>
              <a:t>Action: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81912" y="2505456"/>
            <a:ext cx="1399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No intervention required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6616" y="28529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9"/>
                </a:solidFill>
              </a:rPr>
              <a:t>Utilization: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81912" y="2852928"/>
            <a:ext cx="1399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&lt; 30%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685800"/>
            <a:ext cx="2880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685800"/>
            <a:ext cx="288036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685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</a:rPr>
              <a:t>TIER 2 — MONITOR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28416" y="1225296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Age 30-45  |  Utilization 30-70%  |  Debt Ratio &lt; 0.5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28416" y="181051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9"/>
                </a:solidFill>
              </a:rPr>
              <a:t>Risk Level: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53712" y="1810512"/>
            <a:ext cx="1399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Medium — Proactive watch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28416" y="2157984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9"/>
                </a:solidFill>
              </a:rPr>
              <a:t>Avg Default Rate: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53712" y="2157984"/>
            <a:ext cx="1399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~5-10%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28416" y="2505456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9"/>
                </a:solidFill>
              </a:rPr>
              <a:t>Action: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53712" y="2505456"/>
            <a:ext cx="1399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Debt consolidation advisory; periodic review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28416" y="28529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9"/>
                </a:solidFill>
              </a:rPr>
              <a:t>Utilization: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53712" y="2852928"/>
            <a:ext cx="1399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30-70%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72200" y="685800"/>
            <a:ext cx="2880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685800"/>
            <a:ext cx="288036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685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</a:rPr>
              <a:t>TIER 3 — CRITICAL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0216" y="1225296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</a:rPr>
              <a:t>Utilization &gt; 70%  |  1+ Past Due Events  |  Any Age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0216" y="181051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9"/>
                </a:solidFill>
              </a:rPr>
              <a:t>Risk Level: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525512" y="1810512"/>
            <a:ext cx="1399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High — Immediate action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00216" y="2157984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9"/>
                </a:solidFill>
              </a:rPr>
              <a:t>Avg Default Rate: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525512" y="2157984"/>
            <a:ext cx="1399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~19% (70-100% util. group)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0216" y="2505456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9"/>
                </a:solidFill>
              </a:rPr>
              <a:t>Action: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525512" y="2505456"/>
            <a:ext cx="1399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EWS trigger; credit limit reduction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0216" y="28529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9"/>
                </a:solidFill>
              </a:rPr>
              <a:t>Utilization: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525512" y="2852928"/>
            <a:ext cx="1399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&gt; 70%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28600" y="4069080"/>
            <a:ext cx="4572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160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KEY FINDING  | 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572768" y="414223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</a:rPr>
              <a:t>Tier 3 borrowers (Util &gt;70% + 1+ past due) carry a 19%+ default rate. Proactive EWS intervention before the 90-day threshold improves recovery rates by 20-25% — saving $1.2M per 10,000 loans.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83480" y="3977640"/>
            <a:ext cx="39319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074920" y="40233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</a:rPr>
              <a:t>Past Due Frequency vs. Default Rate</a:t>
            </a:r>
            <a:endParaRPr lang="en-US" sz="95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4251960"/>
            <a:ext cx="384048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Dashboard Walkthrough — Google Sheets Credit Risk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732520" y="109728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07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56692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94944"/>
            <a:ext cx="5577840" cy="4160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80760" y="667512"/>
            <a:ext cx="2834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80760" y="667512"/>
            <a:ext cx="54864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0" y="7132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KPI Summary Cards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217920" y="987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Default Rate (7%), Avg Debt Ratio (33%), Avg Utilization (34%), Avg Monthly Income ($6,749.91)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80760" y="1508760"/>
            <a:ext cx="2834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80760" y="1508760"/>
            <a:ext cx="54864" cy="7772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0" y="155448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017"/>
                </a:solidFill>
              </a:rPr>
              <a:t>Age Group Bar Chart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217920" y="18288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Clearly shows the Financial Maturity curve — default risk halves with each age bracket above 30.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80760" y="2350008"/>
            <a:ext cx="2834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80760" y="2350008"/>
            <a:ext cx="54864" cy="777240"/>
          </a:xfrm>
          <a:prstGeom prst="rect">
            <a:avLst/>
          </a:prstGeom>
          <a:solidFill>
            <a:srgbClr val="1A6B7C"/>
          </a:solidFill>
          <a:ln w="12700">
            <a:solidFill>
              <a:srgbClr val="1A6B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0" y="239572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7C"/>
                </a:solidFill>
              </a:rPr>
              <a:t>Utilization Pie Chart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217920" y="26700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70-100% util. bucket (orange) comprises 47% of all defaults despite being a smaller portion of borrowers.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080760" y="3191256"/>
            <a:ext cx="2834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80760" y="3191256"/>
            <a:ext cx="54864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0" y="323697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</a:rPr>
              <a:t>Age × Utilization Lines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217920" y="3511296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Multi-line chart shows every age group follows the same utilization-to-default escalation pattern.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80760" y="4032504"/>
            <a:ext cx="2834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080760" y="4032504"/>
            <a:ext cx="54864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0" y="407822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Past Due Frequency Bar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217920" y="435254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Even 1 prior delay (30-59 days) triples default probability — validates the Early Warning System logic.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Recommendations &amp; Impact — The "So What?"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732520" y="109728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08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5669280" cy="914400"/>
          </a:xfrm>
          <a:prstGeom prst="rect">
            <a:avLst/>
          </a:prstGeom>
          <a:solidFill>
            <a:srgbClr val="243558"/>
          </a:solidFill>
          <a:ln w="12700">
            <a:solidFill>
              <a:srgbClr val="1A6B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58368"/>
            <a:ext cx="548640" cy="914400"/>
          </a:xfrm>
          <a:prstGeom prst="rect">
            <a:avLst/>
          </a:prstGeom>
          <a:solidFill>
            <a:srgbClr val="1A6B7C"/>
          </a:solidFill>
          <a:ln w="12700">
            <a:solidFill>
              <a:srgbClr val="1A6B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58368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72237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7C"/>
                </a:solidFill>
              </a:rPr>
              <a:t>Dynamic Credit Limit Reduction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10241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</a:rPr>
              <a:t>Action: Auto-trigger review when Utilization &gt; 70% (~6 months before default).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60520" y="749808"/>
            <a:ext cx="36576" cy="713232"/>
          </a:xfrm>
          <a:prstGeom prst="rect">
            <a:avLst/>
          </a:prstGeom>
          <a:solidFill>
            <a:srgbClr val="2E4270"/>
          </a:solidFill>
          <a:ln w="12700">
            <a:solidFill>
              <a:srgbClr val="2E42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72237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B7C"/>
                </a:solidFill>
              </a:rPr>
              <a:t>Business Impact: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0" y="97840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F0E8"/>
                </a:solidFill>
              </a:rPr>
              <a:t>Reduces Loss Given Default (LGD); prevents capital lock-up.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5669280" cy="914400"/>
          </a:xfrm>
          <a:prstGeom prst="rect">
            <a:avLst/>
          </a:prstGeom>
          <a:solidFill>
            <a:srgbClr val="24355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1664208"/>
            <a:ext cx="54864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664208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96112" y="17282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Debt Consolidation for Tier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6112" y="20299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</a:rPr>
              <a:t>Action: Offer single-term loan to age 30-45 borrowers with fragmented debt &amp; Ratio 0.3-0.5.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60520" y="1755648"/>
            <a:ext cx="36576" cy="713232"/>
          </a:xfrm>
          <a:prstGeom prst="rect">
            <a:avLst/>
          </a:prstGeom>
          <a:solidFill>
            <a:srgbClr val="2E4270"/>
          </a:solidFill>
          <a:ln w="12700">
            <a:solidFill>
              <a:srgbClr val="2E42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72821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</a:rPr>
              <a:t>Business Impact: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97680" y="198424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F0E8"/>
                </a:solidFill>
              </a:rPr>
              <a:t>Converts fragmented risk into one manageable payment; reduces churn.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2670048"/>
            <a:ext cx="5669280" cy="914400"/>
          </a:xfrm>
          <a:prstGeom prst="rect">
            <a:avLst/>
          </a:prstGeom>
          <a:solidFill>
            <a:srgbClr val="243558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2670048"/>
            <a:ext cx="548640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2670048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27340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</a:rPr>
              <a:t>Early Warning System (EWS)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6112" y="30358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</a:rPr>
              <a:t>Action: Flag borrowers with 2× 30-day delays in a single year — before 90-day event.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60520" y="2761488"/>
            <a:ext cx="36576" cy="713232"/>
          </a:xfrm>
          <a:prstGeom prst="rect">
            <a:avLst/>
          </a:prstGeom>
          <a:solidFill>
            <a:srgbClr val="2E4270"/>
          </a:solidFill>
          <a:ln w="12700">
            <a:solidFill>
              <a:srgbClr val="2E42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273405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017"/>
                </a:solidFill>
              </a:rPr>
              <a:t>Business Impact: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297680" y="299008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F0E8"/>
                </a:solidFill>
              </a:rPr>
              <a:t>35% higher accuracy than income; improves recovery by 20-25%.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3675888"/>
            <a:ext cx="5669280" cy="914400"/>
          </a:xfrm>
          <a:prstGeom prst="rect">
            <a:avLst/>
          </a:prstGeom>
          <a:solidFill>
            <a:srgbClr val="243558"/>
          </a:solidFill>
          <a:ln w="12700">
            <a:solidFill>
              <a:srgbClr val="2E42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675888"/>
            <a:ext cx="548640" cy="914400"/>
          </a:xfrm>
          <a:prstGeom prst="rect">
            <a:avLst/>
          </a:prstGeom>
          <a:solidFill>
            <a:srgbClr val="2E4270"/>
          </a:solidFill>
          <a:ln w="12700">
            <a:solidFill>
              <a:srgbClr val="2E42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3675888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96112" y="37398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270"/>
                </a:solidFill>
              </a:rPr>
              <a:t>Age-Segmented Interest Rate Pricing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96112" y="40416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</a:rPr>
              <a:t>Action: Apply risk-based pricing for borrowers under 35 (collateral or higher rate).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60520" y="3767328"/>
            <a:ext cx="36576" cy="713232"/>
          </a:xfrm>
          <a:prstGeom prst="rect">
            <a:avLst/>
          </a:prstGeom>
          <a:solidFill>
            <a:srgbClr val="2E4270"/>
          </a:solidFill>
          <a:ln w="12700">
            <a:solidFill>
              <a:srgbClr val="2E42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0" y="373989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4270"/>
                </a:solidFill>
              </a:rPr>
              <a:t>Business Impact: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297680" y="399592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F0E8"/>
                </a:solidFill>
              </a:rPr>
              <a:t>Offsets 12% higher delinquency risk in under-35 segment.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80760" y="658368"/>
            <a:ext cx="2834640" cy="1261872"/>
          </a:xfrm>
          <a:prstGeom prst="rect">
            <a:avLst/>
          </a:prstGeom>
          <a:solidFill>
            <a:srgbClr val="243558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71323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017"/>
                </a:solidFill>
              </a:rPr>
              <a:t>$1.2M</a:t>
            </a:r>
            <a:endParaRPr lang="en-US" sz="4000" dirty="0"/>
          </a:p>
        </p:txBody>
      </p:sp>
      <p:sp>
        <p:nvSpPr>
          <p:cNvPr id="39" name="Shape 37"/>
          <p:cNvSpPr/>
          <p:nvPr/>
        </p:nvSpPr>
        <p:spPr>
          <a:xfrm>
            <a:off x="6263640" y="1435608"/>
            <a:ext cx="246888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149961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Savings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72200" y="1700784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F0E8"/>
                </a:solidFill>
              </a:rPr>
              <a:t>Per 10,000 loans via proactive filtering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080760" y="2048256"/>
            <a:ext cx="2834640" cy="1261872"/>
          </a:xfrm>
          <a:prstGeom prst="rect">
            <a:avLst/>
          </a:prstGeom>
          <a:solidFill>
            <a:srgbClr val="243558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0760" y="210312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</a:rPr>
              <a:t>40%</a:t>
            </a:r>
            <a:endParaRPr lang="en-US" sz="4000" dirty="0"/>
          </a:p>
        </p:txBody>
      </p:sp>
      <p:sp>
        <p:nvSpPr>
          <p:cNvPr id="44" name="Shape 42"/>
          <p:cNvSpPr/>
          <p:nvPr/>
        </p:nvSpPr>
        <p:spPr>
          <a:xfrm>
            <a:off x="6263640" y="2825496"/>
            <a:ext cx="24688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80760" y="288950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Less Manual Review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72200" y="309067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F0E8"/>
                </a:solidFill>
              </a:rPr>
              <a:t>Automated dashboard replaces manual analysis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080760" y="3438144"/>
            <a:ext cx="2834640" cy="1261872"/>
          </a:xfrm>
          <a:prstGeom prst="rect">
            <a:avLst/>
          </a:prstGeom>
          <a:solidFill>
            <a:srgbClr val="243558"/>
          </a:solidFill>
          <a:ln w="19050">
            <a:solidFill>
              <a:srgbClr val="1A6B7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80760" y="3493008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6B7C"/>
                </a:solidFill>
              </a:rPr>
              <a:t>20-25%</a:t>
            </a:r>
            <a:endParaRPr lang="en-US" sz="4000" dirty="0"/>
          </a:p>
        </p:txBody>
      </p:sp>
      <p:sp>
        <p:nvSpPr>
          <p:cNvPr id="49" name="Shape 47"/>
          <p:cNvSpPr/>
          <p:nvPr/>
        </p:nvSpPr>
        <p:spPr>
          <a:xfrm>
            <a:off x="6263640" y="4215384"/>
            <a:ext cx="2468880" cy="36576"/>
          </a:xfrm>
          <a:prstGeom prst="rect">
            <a:avLst/>
          </a:prstGeom>
          <a:solidFill>
            <a:srgbClr val="1A6B7C"/>
          </a:solidFill>
          <a:ln w="12700">
            <a:solidFill>
              <a:srgbClr val="1A6B7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80760" y="427939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Better Recovery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172200" y="448056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F0E8"/>
                </a:solidFill>
              </a:rPr>
              <a:t>EWS intervention before 90-day threshold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28600" y="4919472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99"/>
                </a:solidFill>
              </a:rPr>
              <a:t>Team: Avishkar Meher  |  Aryu Rao  |  Sameer Khan  |  Satyam Swarnakar  |  Krishna Dave  |  Ritik Atri   —   Section A, Group 3  |  Newton School of Technology  |  February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Credit Delinquency Analysis</dc:title>
  <dc:subject>PptxGenJS Presentation</dc:subject>
  <dc:creator>PptxGenJS</dc:creator>
  <cp:lastModifiedBy>PptxGenJS</cp:lastModifiedBy>
  <cp:revision>1</cp:revision>
  <dcterms:created xsi:type="dcterms:W3CDTF">2026-02-18T18:05:56Z</dcterms:created>
  <dcterms:modified xsi:type="dcterms:W3CDTF">2026-02-18T18:05:56Z</dcterms:modified>
</cp:coreProperties>
</file>